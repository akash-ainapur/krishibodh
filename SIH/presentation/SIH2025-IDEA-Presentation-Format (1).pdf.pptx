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Times New Roman MT" charset="1" panose="02030502070405020303"/>
      <p:regular r:id="rId14"/>
    </p:embeddedFont>
    <p:embeddedFont>
      <p:font typeface="Times New Roman MT Bold" charset="1" panose="02030802070405020303"/>
      <p:regular r:id="rId15"/>
    </p:embeddedFont>
    <p:embeddedFont>
      <p:font typeface="Calibri (MS)" charset="1" panose="020F0502020204030204"/>
      <p:regular r:id="rId16"/>
    </p:embeddedFont>
    <p:embeddedFont>
      <p:font typeface="Oswald" charset="1" panose="00000500000000000000"/>
      <p:regular r:id="rId17"/>
    </p:embeddedFont>
    <p:embeddedFont>
      <p:font typeface="Times New Roman" charset="1" panose="02020603050405020304"/>
      <p:regular r:id="rId18"/>
    </p:embeddedFont>
    <p:embeddedFont>
      <p:font typeface="Oswald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39623" y="69766"/>
            <a:ext cx="9270997" cy="6984997"/>
          </a:xfrm>
          <a:custGeom>
            <a:avLst/>
            <a:gdLst/>
            <a:ahLst/>
            <a:cxnLst/>
            <a:rect r="r" b="b" t="t" l="l"/>
            <a:pathLst>
              <a:path h="6984997" w="9270997">
                <a:moveTo>
                  <a:pt x="0" y="0"/>
                </a:moveTo>
                <a:lnTo>
                  <a:pt x="9270997" y="0"/>
                </a:lnTo>
                <a:lnTo>
                  <a:pt x="9270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19055" y="2278952"/>
            <a:ext cx="3203505" cy="3426238"/>
          </a:xfrm>
          <a:custGeom>
            <a:avLst/>
            <a:gdLst/>
            <a:ahLst/>
            <a:cxnLst/>
            <a:rect r="r" b="b" t="t" l="l"/>
            <a:pathLst>
              <a:path h="3426238" w="3203505">
                <a:moveTo>
                  <a:pt x="0" y="0"/>
                </a:moveTo>
                <a:lnTo>
                  <a:pt x="3203505" y="0"/>
                </a:lnTo>
                <a:lnTo>
                  <a:pt x="3203505" y="3426237"/>
                </a:lnTo>
                <a:lnTo>
                  <a:pt x="0" y="3426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947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41363" y="6296"/>
            <a:ext cx="2209124" cy="1122864"/>
          </a:xfrm>
          <a:custGeom>
            <a:avLst/>
            <a:gdLst/>
            <a:ahLst/>
            <a:cxnLst/>
            <a:rect r="r" b="b" t="t" l="l"/>
            <a:pathLst>
              <a:path h="1122864" w="2209124">
                <a:moveTo>
                  <a:pt x="0" y="0"/>
                </a:moveTo>
                <a:lnTo>
                  <a:pt x="2209124" y="0"/>
                </a:lnTo>
                <a:lnTo>
                  <a:pt x="2209124" y="1122864"/>
                </a:lnTo>
                <a:lnTo>
                  <a:pt x="0" y="1122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51583" y="962577"/>
            <a:ext cx="2823539" cy="58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KRISHIBODH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98207" y="1786147"/>
            <a:ext cx="86116" cy="49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3138" y="211303"/>
            <a:ext cx="821491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817" y="1633747"/>
            <a:ext cx="5199612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•Problem Statement ID –SIH25062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9817" y="2651017"/>
            <a:ext cx="11623862" cy="1249647"/>
            <a:chOff x="0" y="0"/>
            <a:chExt cx="15498483" cy="166619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0"/>
              <a:ext cx="15498483" cy="1352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b="true" sz="2400" spc="36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•Problem Statement Title- </a:t>
              </a:r>
            </a:p>
            <a:p>
              <a:pPr algn="l">
                <a:lnSpc>
                  <a:spcPts val="1200"/>
                </a:lnSpc>
              </a:pPr>
              <a:r>
                <a:rPr lang="en-US" b="true" sz="2400" spc="36">
                  <a:solidFill>
                    <a:srgbClr val="98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</a:t>
              </a:r>
              <a:r>
                <a:rPr lang="en-US" b="true" sz="2400" spc="36">
                  <a:solidFill>
                    <a:srgbClr val="98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Implementation of Smart Agriculture for Efficient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27978" y="902926"/>
              <a:ext cx="8901582" cy="763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59"/>
                </a:lnSpc>
              </a:pPr>
              <a:r>
                <a:rPr lang="en-US" b="true" sz="2400">
                  <a:solidFill>
                    <a:srgbClr val="98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Cultivation in Hilly Regions, GOVT Of SIKKIM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9817" y="3706320"/>
            <a:ext cx="8355511" cy="281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•Theme- Agriculture , FoodTech and Rural Development </a:t>
            </a:r>
          </a:p>
          <a:p>
            <a:pPr algn="l">
              <a:lnSpc>
                <a:spcPts val="5759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•PS Category- Hardware </a:t>
            </a:r>
          </a:p>
          <a:p>
            <a:pPr algn="l">
              <a:lnSpc>
                <a:spcPts val="5759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•Team ID- 12</a:t>
            </a:r>
          </a:p>
          <a:p>
            <a:pPr algn="l">
              <a:lnSpc>
                <a:spcPts val="5759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•Team Name: ABHIMANYU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63" y="57093"/>
            <a:ext cx="2209124" cy="1122864"/>
          </a:xfrm>
          <a:custGeom>
            <a:avLst/>
            <a:gdLst/>
            <a:ahLst/>
            <a:cxnLst/>
            <a:rect r="r" b="b" t="t" l="l"/>
            <a:pathLst>
              <a:path h="1122864" w="2209124">
                <a:moveTo>
                  <a:pt x="0" y="0"/>
                </a:moveTo>
                <a:lnTo>
                  <a:pt x="2209124" y="0"/>
                </a:lnTo>
                <a:lnTo>
                  <a:pt x="2209124" y="1122864"/>
                </a:lnTo>
                <a:lnTo>
                  <a:pt x="0" y="1122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3575" y="211874"/>
            <a:ext cx="2361600" cy="959701"/>
          </a:xfrm>
          <a:custGeom>
            <a:avLst/>
            <a:gdLst/>
            <a:ahLst/>
            <a:cxnLst/>
            <a:rect r="r" b="b" t="t" l="l"/>
            <a:pathLst>
              <a:path h="959701" w="2361600">
                <a:moveTo>
                  <a:pt x="0" y="0"/>
                </a:moveTo>
                <a:lnTo>
                  <a:pt x="2361599" y="0"/>
                </a:lnTo>
                <a:lnTo>
                  <a:pt x="2361599" y="959701"/>
                </a:lnTo>
                <a:lnTo>
                  <a:pt x="0" y="95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38086" y="6380150"/>
            <a:ext cx="1860871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@SIH Idea submission- Template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18341" y="6390818"/>
            <a:ext cx="7989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2542" y="6311379"/>
            <a:ext cx="12192000" cy="503238"/>
            <a:chOff x="0" y="0"/>
            <a:chExt cx="24383998" cy="1006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27055" y="1736306"/>
            <a:ext cx="3545286" cy="4017321"/>
          </a:xfrm>
          <a:custGeom>
            <a:avLst/>
            <a:gdLst/>
            <a:ahLst/>
            <a:cxnLst/>
            <a:rect r="r" b="b" t="t" l="l"/>
            <a:pathLst>
              <a:path h="4017321" w="3545286">
                <a:moveTo>
                  <a:pt x="0" y="0"/>
                </a:moveTo>
                <a:lnTo>
                  <a:pt x="3545286" y="0"/>
                </a:lnTo>
                <a:lnTo>
                  <a:pt x="3545286" y="4017321"/>
                </a:lnTo>
                <a:lnTo>
                  <a:pt x="0" y="4017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85725" cap="sq">
            <a:solidFill>
              <a:srgbClr val="15823E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999959" y="1096185"/>
            <a:ext cx="114824" cy="47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320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42897" y="1354388"/>
            <a:ext cx="11621599" cy="0"/>
          </a:xfrm>
          <a:prstGeom prst="line">
            <a:avLst/>
          </a:prstGeom>
          <a:ln cap="flat" w="28575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494408" y="139370"/>
            <a:ext cx="3240750" cy="5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KRISHIBODH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69773" y="611035"/>
            <a:ext cx="3252454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Proposed Solution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38086" y="1564967"/>
            <a:ext cx="5807125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213"/>
              </a:lnSpc>
              <a:buFont typeface="Arial"/>
              <a:buChar char="•"/>
            </a:pP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CNC-powe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red </a:t>
            </a: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automation system for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polyhouse farming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38086" y="2619648"/>
            <a:ext cx="5807125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213"/>
              </a:lnSpc>
              <a:buFont typeface="Arial"/>
              <a:buChar char="•"/>
            </a:pP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Executes 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eding, watering, </a:t>
            </a: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and 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monitoring </a:t>
            </a: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with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zero guesswork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8086" y="3756298"/>
            <a:ext cx="5807125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213"/>
              </a:lnSpc>
              <a:buFont typeface="Arial"/>
              <a:buChar char="•"/>
            </a:pP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ensor-based pr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ecision </a:t>
            </a: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irrigation via microcontroller logic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38086" y="4892948"/>
            <a:ext cx="5807125" cy="8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213"/>
              </a:lnSpc>
              <a:buFont typeface="Arial"/>
              <a:buChar char="•"/>
            </a:pP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Built for 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enclos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 environments </a:t>
            </a:r>
            <a:r>
              <a:rPr lang="en-US" b="true" sz="2700" spc="43">
                <a:solidFill>
                  <a:srgbClr val="7F7F7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 neutralize </a:t>
            </a:r>
            <a:r>
              <a:rPr lang="en-US" b="true" sz="2700" spc="4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climate uncertainty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6132" y="496195"/>
            <a:ext cx="1179565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Abhimanyu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580" y="-135388"/>
            <a:ext cx="11567884" cy="1306963"/>
          </a:xfrm>
          <a:custGeom>
            <a:avLst/>
            <a:gdLst/>
            <a:ahLst/>
            <a:cxnLst/>
            <a:rect r="r" b="b" t="t" l="l"/>
            <a:pathLst>
              <a:path h="1306963" w="11567884">
                <a:moveTo>
                  <a:pt x="0" y="0"/>
                </a:moveTo>
                <a:lnTo>
                  <a:pt x="11567884" y="0"/>
                </a:lnTo>
                <a:lnTo>
                  <a:pt x="11567884" y="1306963"/>
                </a:lnTo>
                <a:lnTo>
                  <a:pt x="0" y="130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1363" y="57093"/>
            <a:ext cx="2209124" cy="1122864"/>
          </a:xfrm>
          <a:custGeom>
            <a:avLst/>
            <a:gdLst/>
            <a:ahLst/>
            <a:cxnLst/>
            <a:rect r="r" b="b" t="t" l="l"/>
            <a:pathLst>
              <a:path h="1122864" w="2209124">
                <a:moveTo>
                  <a:pt x="0" y="0"/>
                </a:moveTo>
                <a:lnTo>
                  <a:pt x="2209124" y="0"/>
                </a:lnTo>
                <a:lnTo>
                  <a:pt x="2209124" y="1122864"/>
                </a:lnTo>
                <a:lnTo>
                  <a:pt x="0" y="112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12952" y="211874"/>
            <a:ext cx="2361600" cy="959701"/>
            <a:chOff x="0" y="0"/>
            <a:chExt cx="3148800" cy="1279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48800" cy="1279601"/>
            </a:xfrm>
            <a:custGeom>
              <a:avLst/>
              <a:gdLst/>
              <a:ahLst/>
              <a:cxnLst/>
              <a:rect r="r" b="b" t="t" l="l"/>
              <a:pathLst>
                <a:path h="1279601" w="3148800">
                  <a:moveTo>
                    <a:pt x="0" y="0"/>
                  </a:moveTo>
                  <a:lnTo>
                    <a:pt x="3148800" y="0"/>
                  </a:lnTo>
                  <a:lnTo>
                    <a:pt x="3148800" y="1279601"/>
                  </a:lnTo>
                  <a:lnTo>
                    <a:pt x="0" y="1279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70077" y="404495"/>
              <a:ext cx="1435722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Abhimanyu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12532" y="1840230"/>
            <a:ext cx="88582" cy="249555"/>
            <a:chOff x="0" y="0"/>
            <a:chExt cx="118110" cy="3327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46990"/>
              <a:ext cx="31750" cy="233680"/>
            </a:xfrm>
            <a:custGeom>
              <a:avLst/>
              <a:gdLst/>
              <a:ahLst/>
              <a:cxnLst/>
              <a:rect r="r" b="b" t="t" l="l"/>
              <a:pathLst>
                <a:path h="233680" w="31750">
                  <a:moveTo>
                    <a:pt x="0" y="233680"/>
                  </a:moveTo>
                  <a:cubicBezTo>
                    <a:pt x="3810" y="1270"/>
                    <a:pt x="11430" y="0"/>
                    <a:pt x="16510" y="3810"/>
                  </a:cubicBezTo>
                  <a:cubicBezTo>
                    <a:pt x="31750" y="16510"/>
                    <a:pt x="16510" y="233680"/>
                    <a:pt x="16510" y="23368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5338086" y="6408725"/>
            <a:ext cx="1860871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2863" y="1519731"/>
            <a:ext cx="5603547" cy="4753548"/>
            <a:chOff x="0" y="0"/>
            <a:chExt cx="7471396" cy="633806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603924" y="-66675"/>
              <a:ext cx="4263549" cy="1276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3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</a:t>
              </a:r>
              <a:r>
                <a:rPr lang="en-US" b="true" sz="2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ogies in </a:t>
              </a:r>
            </a:p>
            <a:p>
              <a:pPr algn="ctr">
                <a:lnSpc>
                  <a:spcPts val="3863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KRISHIBODH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0293" y="1561847"/>
              <a:ext cx="7311103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Hardware components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Arduino UNO, Raspberry Pi 3, Nema 17 stepper motor, Relay module, Sensors.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5091" y="2694687"/>
              <a:ext cx="57946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Programming Languages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Python(AI/ML), C++(Microcontroller).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9889" y="3906033"/>
              <a:ext cx="7161214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Frameworks &amp; Libraries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OpenCV for image processing, Flask (Backend).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5091" y="5036082"/>
              <a:ext cx="7161214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Enhancements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AI driven- image processing, User interface integration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0" y="0"/>
          <a:ext cx="5603547" cy="4753548"/>
        </p:xfrm>
        <a:graphic>
          <a:graphicData uri="http://schemas.openxmlformats.org/drawingml/2006/table">
            <a:tbl>
              <a:tblPr/>
              <a:tblGrid>
                <a:gridCol w="5303739"/>
              </a:tblGrid>
              <a:tr h="10035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19A5C">
                            <a:alpha val="43000"/>
                          </a:srgbClr>
                        </a:gs>
                        <a:gs pos="100000">
                          <a:srgbClr val="F9DB6F">
                            <a:alpha val="43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9537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43000"/>
                          </a:srgbClr>
                        </a:gs>
                        <a:gs pos="100000">
                          <a:srgbClr val="94B9FF">
                            <a:alpha val="43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8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43000"/>
                          </a:srgbClr>
                        </a:gs>
                        <a:gs pos="100000">
                          <a:srgbClr val="94B9FF">
                            <a:alpha val="43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8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43000"/>
                          </a:srgbClr>
                        </a:gs>
                        <a:gs pos="100000">
                          <a:srgbClr val="94B9FF">
                            <a:alpha val="43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0499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43000"/>
                          </a:srgbClr>
                        </a:gs>
                        <a:gs pos="100000">
                          <a:srgbClr val="94B9FF">
                            <a:alpha val="43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6793337" y="1529241"/>
            <a:ext cx="4753563" cy="4753563"/>
          </a:xfrm>
          <a:custGeom>
            <a:avLst/>
            <a:gdLst/>
            <a:ahLst/>
            <a:cxnLst/>
            <a:rect r="r" b="b" t="t" l="l"/>
            <a:pathLst>
              <a:path h="4753563" w="4753563">
                <a:moveTo>
                  <a:pt x="0" y="0"/>
                </a:moveTo>
                <a:lnTo>
                  <a:pt x="4753563" y="0"/>
                </a:lnTo>
                <a:lnTo>
                  <a:pt x="4753563" y="4753563"/>
                </a:lnTo>
                <a:lnTo>
                  <a:pt x="0" y="4753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84280" y="210931"/>
            <a:ext cx="5528043" cy="6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18341" y="6419393"/>
            <a:ext cx="79896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32542" y="6311379"/>
            <a:ext cx="12192000" cy="503238"/>
            <a:chOff x="0" y="0"/>
            <a:chExt cx="24383998" cy="10064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63" y="57093"/>
            <a:ext cx="2209124" cy="1122864"/>
          </a:xfrm>
          <a:custGeom>
            <a:avLst/>
            <a:gdLst/>
            <a:ahLst/>
            <a:cxnLst/>
            <a:rect r="r" b="b" t="t" l="l"/>
            <a:pathLst>
              <a:path h="1122864" w="2209124">
                <a:moveTo>
                  <a:pt x="0" y="0"/>
                </a:moveTo>
                <a:lnTo>
                  <a:pt x="2209124" y="0"/>
                </a:lnTo>
                <a:lnTo>
                  <a:pt x="2209124" y="1122864"/>
                </a:lnTo>
                <a:lnTo>
                  <a:pt x="0" y="1122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542" y="6311379"/>
            <a:ext cx="12192000" cy="503238"/>
            <a:chOff x="0" y="0"/>
            <a:chExt cx="24383998" cy="1006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574493" y="1783375"/>
            <a:ext cx="50235" cy="12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07129" y="4102037"/>
            <a:ext cx="5023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8189" y="1501111"/>
            <a:ext cx="5382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36324" y="1114107"/>
            <a:ext cx="5157487" cy="5324326"/>
            <a:chOff x="0" y="0"/>
            <a:chExt cx="6876650" cy="709910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17627"/>
              <a:ext cx="260882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Aspect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115306" y="217627"/>
              <a:ext cx="260882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Viable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267830" y="217627"/>
              <a:ext cx="260882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Feasible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17678" y="1330994"/>
              <a:ext cx="879951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-US" sz="2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18154" y="1212884"/>
              <a:ext cx="1803125" cy="92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Saves 40–50% w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443554" y="977934"/>
              <a:ext cx="2126806" cy="139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irrig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ation can be set up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57457" y="2928732"/>
              <a:ext cx="600393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Soil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18154" y="2681851"/>
              <a:ext cx="1803125" cy="92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Prevents soil 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erosion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605395" y="2681851"/>
              <a:ext cx="1803125" cy="92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Polyhouse protects soil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36531" y="4369003"/>
              <a:ext cx="1442244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36762" y="4013611"/>
              <a:ext cx="1803125" cy="139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Works with A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rduino + IoT + AI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321279" y="3553917"/>
              <a:ext cx="2279769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 be built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with ava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ilable tech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42328" y="5805796"/>
              <a:ext cx="1510189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Economic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18154" y="5465035"/>
              <a:ext cx="1803125" cy="1399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Increases yield &amp; 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income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367073" y="5230085"/>
              <a:ext cx="2279769" cy="186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Low-cost, modu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uni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01804" y="0"/>
          <a:ext cx="4725966" cy="5148113"/>
        </p:xfrm>
        <a:graphic>
          <a:graphicData uri="http://schemas.openxmlformats.org/drawingml/2006/table">
            <a:tbl>
              <a:tblPr/>
              <a:tblGrid>
                <a:gridCol w="1575322"/>
                <a:gridCol w="1575322"/>
                <a:gridCol w="1575322"/>
              </a:tblGrid>
              <a:tr h="7178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1113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FFF"/>
                    </a:solidFill>
                  </a:tcPr>
                </a:tc>
              </a:tr>
              <a:tr h="10590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</a:tr>
              <a:tr h="12462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4C9"/>
                    </a:solidFill>
                  </a:tcPr>
                </a:tc>
              </a:tr>
              <a:tr h="10115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A5AF"/>
                    </a:solidFill>
                  </a:tcPr>
                </a:tc>
              </a:tr>
            </a:tbl>
          </a:graphicData>
        </a:graphic>
      </p:graphicFrame>
      <p:sp>
        <p:nvSpPr>
          <p:cNvPr name="TextBox 25" id="25"/>
          <p:cNvSpPr txBox="true"/>
          <p:nvPr/>
        </p:nvSpPr>
        <p:spPr>
          <a:xfrm rot="0">
            <a:off x="11416913" y="6419383"/>
            <a:ext cx="81458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42437" y="1043271"/>
            <a:ext cx="4974475" cy="5395162"/>
            <a:chOff x="0" y="0"/>
            <a:chExt cx="6632634" cy="71935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32634" cy="7193549"/>
            </a:xfrm>
            <a:custGeom>
              <a:avLst/>
              <a:gdLst/>
              <a:ahLst/>
              <a:cxnLst/>
              <a:rect r="r" b="b" t="t" l="l"/>
              <a:pathLst>
                <a:path h="7193549" w="6632634">
                  <a:moveTo>
                    <a:pt x="0" y="0"/>
                  </a:moveTo>
                  <a:lnTo>
                    <a:pt x="6632634" y="0"/>
                  </a:lnTo>
                  <a:lnTo>
                    <a:pt x="6632634" y="7193549"/>
                  </a:lnTo>
                  <a:lnTo>
                    <a:pt x="0" y="7193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33615" t="-1518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65656" y="-13576"/>
              <a:ext cx="2234656" cy="433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2"/>
                </a:lnSpc>
                <a:spcBef>
                  <a:spcPct val="0"/>
                </a:spcBef>
              </a:pPr>
              <a:r>
                <a:rPr lang="en-US" b="true" sz="19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CHALLENGES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978588" y="-13576"/>
              <a:ext cx="1877274" cy="433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2"/>
                </a:lnSpc>
                <a:spcBef>
                  <a:spcPct val="0"/>
                </a:spcBef>
              </a:pPr>
              <a:r>
                <a:rPr lang="en-US" b="true" sz="19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SOLUTIONS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79630" y="536872"/>
              <a:ext cx="2806708" cy="149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</a:pPr>
              <a:r>
                <a:rPr lang="en-US" sz="161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Soil erosion during heavy monsoon rains washes away fertile topsoil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79630" y="2148515"/>
              <a:ext cx="2806708" cy="149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  <a:spcBef>
                  <a:spcPct val="0"/>
                </a:spcBef>
              </a:pPr>
              <a:r>
                <a:rPr lang="en-US" sz="161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Water scarcity in summer  terraces rely on rain-fed irrigation and stored water.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79630" y="5874668"/>
              <a:ext cx="2520682" cy="1149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9"/>
                </a:lnSpc>
                <a:spcBef>
                  <a:spcPct val="0"/>
                </a:spcBef>
              </a:pPr>
              <a:r>
                <a:rPr lang="en-US" sz="165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Unpredictable rainfall dependency – crop loss if rains fail.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30" y="3924292"/>
              <a:ext cx="2806708" cy="1917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9"/>
                </a:lnSpc>
                <a:spcBef>
                  <a:spcPct val="0"/>
                </a:spcBef>
              </a:pPr>
              <a:r>
                <a:rPr lang="en-US" sz="165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labour &amp; maintenance – repairing terrace walls, bunds, and drainage systems regularly.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513870" y="631490"/>
              <a:ext cx="2806708" cy="149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  <a:spcBef>
                  <a:spcPct val="0"/>
                </a:spcBef>
              </a:pPr>
              <a:r>
                <a:rPr lang="en-US" sz="161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 erosion – soil is protected from rain; only controlled irrigation is used.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513870" y="2199445"/>
              <a:ext cx="3031628" cy="1120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9"/>
                </a:lnSpc>
                <a:spcBef>
                  <a:spcPct val="0"/>
                </a:spcBef>
              </a:pPr>
              <a:r>
                <a:rPr lang="en-US" sz="1615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Efficient irrigation – drip + sensor-based watering saves 40–50% water.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513870" y="3924292"/>
              <a:ext cx="2806708" cy="1533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9"/>
                </a:lnSpc>
                <a:spcBef>
                  <a:spcPct val="0"/>
                </a:spcBef>
              </a:pPr>
              <a:r>
                <a:rPr lang="en-US" sz="165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 maintenance – modular automation reduces labour and upkeep.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13870" y="5829569"/>
              <a:ext cx="2839145" cy="1363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+ IoT controlled environment – irrigation and climate independent of rainfall.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18362" y="210931"/>
            <a:ext cx="6681778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90081" y="-192856"/>
            <a:ext cx="11860406" cy="1306963"/>
            <a:chOff x="0" y="0"/>
            <a:chExt cx="15813875" cy="17426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13875" cy="1742618"/>
            </a:xfrm>
            <a:custGeom>
              <a:avLst/>
              <a:gdLst/>
              <a:ahLst/>
              <a:cxnLst/>
              <a:rect r="r" b="b" t="t" l="l"/>
              <a:pathLst>
                <a:path h="1742618" w="15813875">
                  <a:moveTo>
                    <a:pt x="0" y="0"/>
                  </a:moveTo>
                  <a:lnTo>
                    <a:pt x="15813875" y="0"/>
                  </a:lnTo>
                  <a:lnTo>
                    <a:pt x="15813875" y="1742618"/>
                  </a:lnTo>
                  <a:lnTo>
                    <a:pt x="0" y="1742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902779" y="795109"/>
              <a:ext cx="1435722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Abhimanyu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6097" y="-63503"/>
            <a:ext cx="11567884" cy="1306963"/>
          </a:xfrm>
          <a:custGeom>
            <a:avLst/>
            <a:gdLst/>
            <a:ahLst/>
            <a:cxnLst/>
            <a:rect r="r" b="b" t="t" l="l"/>
            <a:pathLst>
              <a:path h="1306963" w="11567884">
                <a:moveTo>
                  <a:pt x="0" y="0"/>
                </a:moveTo>
                <a:lnTo>
                  <a:pt x="11567884" y="0"/>
                </a:lnTo>
                <a:lnTo>
                  <a:pt x="11567884" y="1306963"/>
                </a:lnTo>
                <a:lnTo>
                  <a:pt x="0" y="130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1363" y="57093"/>
            <a:ext cx="2209124" cy="1122864"/>
          </a:xfrm>
          <a:custGeom>
            <a:avLst/>
            <a:gdLst/>
            <a:ahLst/>
            <a:cxnLst/>
            <a:rect r="r" b="b" t="t" l="l"/>
            <a:pathLst>
              <a:path h="1122864" w="2209124">
                <a:moveTo>
                  <a:pt x="0" y="0"/>
                </a:moveTo>
                <a:lnTo>
                  <a:pt x="2209124" y="0"/>
                </a:lnTo>
                <a:lnTo>
                  <a:pt x="2209124" y="1122864"/>
                </a:lnTo>
                <a:lnTo>
                  <a:pt x="0" y="112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54" y="211874"/>
            <a:ext cx="11944950" cy="6114126"/>
          </a:xfrm>
          <a:custGeom>
            <a:avLst/>
            <a:gdLst/>
            <a:ahLst/>
            <a:cxnLst/>
            <a:rect r="r" b="b" t="t" l="l"/>
            <a:pathLst>
              <a:path h="6114126" w="11944950">
                <a:moveTo>
                  <a:pt x="0" y="0"/>
                </a:moveTo>
                <a:lnTo>
                  <a:pt x="11944951" y="0"/>
                </a:lnTo>
                <a:lnTo>
                  <a:pt x="11944951" y="6114126"/>
                </a:lnTo>
                <a:lnTo>
                  <a:pt x="0" y="611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62414" y="210931"/>
            <a:ext cx="5368557" cy="6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19103" y="6419393"/>
            <a:ext cx="79124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6132" y="496195"/>
            <a:ext cx="1076792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Abhimanyu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0401" y="2937310"/>
            <a:ext cx="50235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4006" y="3909517"/>
            <a:ext cx="50235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84622" y="1108996"/>
            <a:ext cx="2335501" cy="3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Impact On Sikkim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5894" y="1497511"/>
            <a:ext cx="109538" cy="3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1822" y="1497511"/>
            <a:ext cx="3453898" cy="3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Jorethang &amp; Low-Altitude South Sikkim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5894" y="1959664"/>
            <a:ext cx="109538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1822" y="1959664"/>
            <a:ext cx="1084393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Hilly Terrain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5894" y="2450392"/>
            <a:ext cx="109538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41822" y="2450392"/>
            <a:ext cx="1379734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Rainfall Pattern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05894" y="2941120"/>
            <a:ext cx="109538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41822" y="2941120"/>
            <a:ext cx="2024301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Greenhouse Suitability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84622" y="3416036"/>
            <a:ext cx="1953206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Environmental Impact: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05894" y="3871227"/>
            <a:ext cx="109538" cy="3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51628" y="3871227"/>
            <a:ext cx="3215653" cy="31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Water Conservation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rainwater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7651" y="4780039"/>
            <a:ext cx="6588223" cy="132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07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KRISHIBODH focuses on 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precision irrigation and crop monitoring</a:t>
            </a: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AIF also improves 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storage, supply chains, and market access</a:t>
            </a: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boosting farmer incomes.</a:t>
            </a:r>
          </a:p>
          <a:p>
            <a:pPr algn="l" marL="345439" indent="-172720" lvl="1">
              <a:lnSpc>
                <a:spcPts val="182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can combine better yields from KRISHIBODH with 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reduced post harvestlosses</a:t>
            </a: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economic benefit.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05894" y="4683519"/>
            <a:ext cx="109538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05894" y="5419611"/>
            <a:ext cx="109538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41822" y="3947427"/>
            <a:ext cx="825894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41822" y="4192791"/>
            <a:ext cx="2760602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harvesting and precision irrigation.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41822" y="4683519"/>
            <a:ext cx="4209764" cy="48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</a:t>
            </a: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soil erosion and runoff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terraced fields, protecting fragile Himalayan ecology.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41822" y="5419611"/>
            <a:ext cx="3918861" cy="72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</a:t>
            </a:r>
            <a:r>
              <a:rPr lang="en-US" b="true" sz="1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climate-smart agriculture</a:t>
            </a: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helping Sikkim adapt to rainfall variability and rising temperatures.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9911" y="1164412"/>
            <a:ext cx="6560860" cy="139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0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 Impact</a:t>
            </a: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Krishibodh improves quality of life by saving time and effort, especially for smallholder and women farmers in Jorethang, South Sikkim.</a:t>
            </a:r>
          </a:p>
          <a:p>
            <a:pPr algn="l" marL="345439" indent="-172720" lvl="1">
              <a:lnSpc>
                <a:spcPts val="220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Empowering Innovation</a:t>
            </a:r>
            <a:r>
              <a:rPr lang="en-US" sz="1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It promotes youth-led, tech-driven agriculture, boosting confidence and aligning with sustainable development goals.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4810" y="2889961"/>
            <a:ext cx="669106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Impact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Saves 40–50% water, reducing input costs and supporting sustainable farming during dry seasons.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Boosts Incomes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Increases yields of cash crops like cardamom, ginger, oranges, tea, and vegetables, raising farmer incomes and reducing climate-related losses.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Strengthens Exports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Enhances the “Sikkim Organic” brand, creating opportunities for premium global exports and more reliable farming systems.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-32542" y="6311379"/>
            <a:ext cx="12192000" cy="503238"/>
            <a:chOff x="0" y="0"/>
            <a:chExt cx="24383998" cy="10064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6097" y="-63503"/>
            <a:ext cx="11567884" cy="1306963"/>
          </a:xfrm>
          <a:custGeom>
            <a:avLst/>
            <a:gdLst/>
            <a:ahLst/>
            <a:cxnLst/>
            <a:rect r="r" b="b" t="t" l="l"/>
            <a:pathLst>
              <a:path h="1306963" w="11567884">
                <a:moveTo>
                  <a:pt x="0" y="0"/>
                </a:moveTo>
                <a:lnTo>
                  <a:pt x="11567884" y="0"/>
                </a:lnTo>
                <a:lnTo>
                  <a:pt x="11567884" y="1306963"/>
                </a:lnTo>
                <a:lnTo>
                  <a:pt x="0" y="1306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1363" y="57093"/>
            <a:ext cx="2209124" cy="1122864"/>
          </a:xfrm>
          <a:custGeom>
            <a:avLst/>
            <a:gdLst/>
            <a:ahLst/>
            <a:cxnLst/>
            <a:rect r="r" b="b" t="t" l="l"/>
            <a:pathLst>
              <a:path h="1122864" w="2209124">
                <a:moveTo>
                  <a:pt x="0" y="0"/>
                </a:moveTo>
                <a:lnTo>
                  <a:pt x="2209124" y="0"/>
                </a:lnTo>
                <a:lnTo>
                  <a:pt x="2209124" y="1122864"/>
                </a:lnTo>
                <a:lnTo>
                  <a:pt x="0" y="112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38086" y="6408725"/>
            <a:ext cx="1860871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14684" y="6419393"/>
            <a:ext cx="83629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634" y="69637"/>
            <a:ext cx="2361600" cy="959701"/>
            <a:chOff x="0" y="0"/>
            <a:chExt cx="3148800" cy="1279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8800" cy="1279601"/>
            </a:xfrm>
            <a:custGeom>
              <a:avLst/>
              <a:gdLst/>
              <a:ahLst/>
              <a:cxnLst/>
              <a:rect r="r" b="b" t="t" l="l"/>
              <a:pathLst>
                <a:path h="1279601" w="3148800">
                  <a:moveTo>
                    <a:pt x="0" y="0"/>
                  </a:moveTo>
                  <a:lnTo>
                    <a:pt x="3148800" y="0"/>
                  </a:lnTo>
                  <a:lnTo>
                    <a:pt x="3148800" y="1279601"/>
                  </a:lnTo>
                  <a:lnTo>
                    <a:pt x="0" y="1279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70077" y="404495"/>
              <a:ext cx="1435722" cy="426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Abhimanyu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32542" y="6311379"/>
            <a:ext cx="12192000" cy="503238"/>
            <a:chOff x="0" y="0"/>
            <a:chExt cx="24383998" cy="1006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634634" y="210931"/>
            <a:ext cx="7056720" cy="6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794" y="1063142"/>
            <a:ext cx="1104289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Krishibodh uses </a:t>
            </a: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CNC-like precision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</a:t>
            </a: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3-axis gantry system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move tools (like water nozzles or sensors) accurately across the growing area.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794" y="1817671"/>
            <a:ext cx="11593562" cy="221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b="true" sz="15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High Investment Challenge 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sz="15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a polyhouse is expensive, costing around ₹38.80 lakh per acre, which is a significant barrier for most farmers.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b="true" sz="15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Government &amp; Bank Support 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sz="15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NHB provides a 50% subsidy that, when combined with a bank loan, drastically reduces the farmer's debt burden.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b="true" sz="15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Technology Drives Profit 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sz="15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farming systems, like "Krishibodh," boost yields by 3-10 times and ensure superior crop quality, making the investment worthwhile.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b="true" sz="15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Fast Loan Repayment </a:t>
            </a:r>
          </a:p>
          <a:p>
            <a:pPr algn="l">
              <a:lnSpc>
                <a:spcPts val="2218"/>
              </a:lnSpc>
              <a:spcBef>
                <a:spcPct val="0"/>
              </a:spcBef>
            </a:pPr>
            <a:r>
              <a:rPr lang="en-US" sz="15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profits from high-value crops allow the farmer to repay the remaining loan in less than one year, achieving financial sustainability quickly.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794" y="3718099"/>
            <a:ext cx="11548627" cy="20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true" sz="1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National Cultivation Scale 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Across India, approximately 2 lakh hectares (about 494,210 acres) of land are dedicated to protected cultivation, including polyhouses.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b="true" sz="1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Karnataka's Leadership in Production 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Karnataka is a leader in the polyhouse sector, producing 1.25 million tonnes of fruits and vegetables annually from this farming method.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b="true" sz="1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Bengaluru's Subsidy Success 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Bengaluru Urban is the biggest beneficiary of the NHB subsidy scheme, successfully utilizing the ~50% subsidy for polyhouse installations.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DAGziXLmWIA</dc:identifier>
  <dcterms:modified xsi:type="dcterms:W3CDTF">2011-08-01T06:04:30Z</dcterms:modified>
  <cp:revision>1</cp:revision>
  <dc:title>SIH2025-IDEA-Presentation-Format (1).pdf</dc:title>
</cp:coreProperties>
</file>